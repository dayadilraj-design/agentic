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6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748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students warmly. Introduce the topic as something you wish someone had told YOU when you were sitting in their seats. Keep energy high from slide 1 - smile, make eye contact. Total time budget: ~60 minutes across 17 slides, roughly 3-3.5 min/slide including interaction.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warm and personal, not a resume reading. Mention a specific memory of the school if you have one (a teacher, a classroom, a moment) to build instant connection. This builds credibility for everything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Quickly preview the flow so students know what to expect and when the interactive parts are coming - this helps manage their attention for a full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Actually pause and count hands for each option out loud. This is your first interactive moment - use it to energize the room. Briefly react to the results before moving on (e.g., 'Interesting, most of you picked stress and deadlines...').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timeline briefly (1-2 sentences per stage). The point: it's a normal, non-linear path - not everyone knows their direction at 16, and that's okay.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row by row and ask 'does this sound familiar to what your seniors or parents describe?' Keep pace quick, this is a set-up slide for the challenges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 real example - e.g., how UI/UX tools like Figma plugins or AI design assistants changed how you work compared to when you started. Ask 1-2 students to shout out a skill they're curious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very relatable to board-exam prep. Draw the parallel: managing 5 subjects before exams is training for managing 5 tasks before a deadline. Ask for a quick show of hands: who already makes a priority list?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2-3 students to briefly share group project experiences. Connect it to real workplace stand-up meetings and email/chat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a genuine, appropriately-scaled personal example of a setback early in your career and how you responded - this builds trust and normalizes failure. Keep tone encouraging, not heavy.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supportive and non-alarming for 15-16 year olds. Emphasize balance as a skill to build now through hobbies and routines, not just a corporate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great slide for discussion since AI is topical for this age group. Let a few students speculate before offering your view (creativity, empathy, judgement, communication tend to stay valuable).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Actually run this activity for ~5 minutes - set a visible timer if possible. Walk around the room while pairs discuss. Call on 3-4 pairs to share afterward. This is the energizer for the second half of the seminar.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IMPORTANT: This is a sample story structure - replace the story text with YOUR real, specific experience for maximum authenticity and impact. Students respond much better to genuine, specific stories than generic advice. Keep it honest, age-appropriate, and end on the lesson learned.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these a bit faster - they reinforce the challenges already discussed. Ask students which one they'll try first before moving to the 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Fire these prompts rapidly at different students (cold-call gently, or ask for volunteers). Keep energy up - this cements retention right before closing. Aim for 5 minutes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5-8 minutes for genuine Q&amp;A. Add your real contact/LinkedIn detail on this slide before presenting. Close by thanking the school and encouraging students that their journey is just beginning.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17.xml"/><Relationship Id="rId3" Type="http://schemas.openxmlformats.org/officeDocument/2006/relationships/slide" Target="slide5.xml"/><Relationship Id="rId7" Type="http://schemas.openxmlformats.org/officeDocument/2006/relationships/slide" Target="slide7.xml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slide" Target="slide15.xml"/><Relationship Id="rId5" Type="http://schemas.openxmlformats.org/officeDocument/2006/relationships/slide" Target="slide6.xm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slide" Target="slide4.xml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7.png"/><Relationship Id="rId9" Type="http://schemas.openxmlformats.org/officeDocument/2006/relationships/slide" Target="slid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291840" cy="32918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48056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1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SEMINAR FOR GRADE 10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in</a:t>
            </a:r>
            <a:endParaRPr lang="en-US" sz="5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Life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nobody tells you about life after school — and how to prepare for it, starting today.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52120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0" descr="icons/ti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350" y="5409590"/>
            <a:ext cx="427939" cy="42793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65960" y="52852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Dilraj Singh Chahal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965960" y="5669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Deputy Manager, UI/UX — HCLSoftware  |  Alumnus, Class of 2009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291840" cy="5760720"/>
          </a:xfrm>
          <a:prstGeom prst="roundRect">
            <a:avLst>
              <a:gd name="adj" fmla="val 3333"/>
            </a:avLst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1554480"/>
            <a:ext cx="1554480" cy="15544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icons/ti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395" y="1927555"/>
            <a:ext cx="808330" cy="808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2461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Dilraj Singh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Chahal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4343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Deputy Manager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HCLSoftware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68680" y="557784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1FBF9F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5577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13+ YEARS EXPERIENCE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Little About Me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4425696" y="1700784"/>
            <a:ext cx="566928" cy="56692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12" name="Image 1" descr="icons/grad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1759" y="1836847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0640" y="16916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of 2009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120640" y="20116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sat in a classroom in this very school — probably as nervous about exams as some of you are right now.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425696" y="2752344"/>
            <a:ext cx="566928" cy="56692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16" name="Image 2" descr="icons/laptop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1759" y="2888407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27432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B.Tech, Computer Science (2009–13)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120640" y="30632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Technical University — then found my real passion in designing how people experience technology.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425696" y="3803904"/>
            <a:ext cx="566928" cy="56692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20" name="Image 3" descr="icons/briefcase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1759" y="3939967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20640" y="37947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13+ Years in the Industry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120640" y="41148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my way up from a first job in 2013 to Deputy Manager, UI/UX at HCLSoftware today.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4425696" y="4855464"/>
            <a:ext cx="566928" cy="56692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24" name="Image 4" descr="icons/handshake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1759" y="4991527"/>
            <a:ext cx="294803" cy="29480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20640" y="4846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I'm here today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5120640" y="51663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share the real, unfiltered challenges of professional life — and how you can prepare for them now.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Professional Life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7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9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3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5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7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  <p:bldP spid="14" grpId="0" animBg="1"/>
      <p:bldP spid="15" grpId="0" animBg="1"/>
      <p:bldP spid="16" grpId="0"/>
      <p:bldP spid="17" grpId="0" animBg="1"/>
      <p:bldP spid="18" grpId="0" animBg="1"/>
      <p:bldP spid="19" grpId="0" animBg="1"/>
      <p:bldP spid="20" grpId="0"/>
      <p:bldP spid="21" grpId="0" animBg="1"/>
      <p:bldP spid="22" grpId="0" animBg="1"/>
      <p:bldP spid="23" grpId="0" animBg="1"/>
      <p:bldP spid="24" grpId="0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Explore Today</a:t>
            </a:r>
            <a:endParaRPr lang="en-US" sz="3200" dirty="0"/>
          </a:p>
        </p:txBody>
      </p:sp>
      <p:sp>
        <p:nvSpPr>
          <p:cNvPr id="4" name="Shape 2">
            <a:hlinkClick r:id="rId3" action="ppaction://hlinksldjump"/>
          </p:cNvPr>
          <p:cNvSpPr/>
          <p:nvPr/>
        </p:nvSpPr>
        <p:spPr>
          <a:xfrm>
            <a:off x="640080" y="1874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7F8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5256" y="2093976"/>
            <a:ext cx="658368" cy="65836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icons/map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264" y="2251984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34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Journey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classroom to a corporate career</a:t>
            </a:r>
            <a:endParaRPr lang="en-US" sz="1150" dirty="0"/>
          </a:p>
        </p:txBody>
      </p:sp>
      <p:sp>
        <p:nvSpPr>
          <p:cNvPr id="9" name="Shape 6">
            <a:hlinkClick r:id="rId5" action="ppaction://hlinksldjump"/>
          </p:cNvPr>
          <p:cNvSpPr/>
          <p:nvPr/>
        </p:nvSpPr>
        <p:spPr>
          <a:xfrm>
            <a:off x="4480560" y="1874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7F8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45736" y="2093976"/>
            <a:ext cx="658368" cy="65836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1" name="Image 1" descr="icons/balance_m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744" y="2251984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2834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vs. Professional Life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54880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changes after graduation</a:t>
            </a:r>
            <a:endParaRPr lang="en-US" sz="1150" dirty="0"/>
          </a:p>
        </p:txBody>
      </p:sp>
      <p:sp>
        <p:nvSpPr>
          <p:cNvPr id="14" name="Shape 10">
            <a:hlinkClick r:id="rId7" action="ppaction://hlinksldjump"/>
          </p:cNvPr>
          <p:cNvSpPr/>
          <p:nvPr/>
        </p:nvSpPr>
        <p:spPr>
          <a:xfrm>
            <a:off x="8321040" y="1874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7F8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86216" y="2093976"/>
            <a:ext cx="658368" cy="65836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2" descr="icons/target_mi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4224" y="2251984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2834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Real Challenges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95360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struggles of working life</a:t>
            </a:r>
            <a:endParaRPr lang="en-US" sz="1150" dirty="0"/>
          </a:p>
        </p:txBody>
      </p:sp>
      <p:sp>
        <p:nvSpPr>
          <p:cNvPr id="19" name="Shape 14">
            <a:hlinkClick r:id="rId9" action="ppaction://hlinksldjump"/>
          </p:cNvPr>
          <p:cNvSpPr/>
          <p:nvPr/>
        </p:nvSpPr>
        <p:spPr>
          <a:xfrm>
            <a:off x="640080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7F8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5256" y="4379976"/>
            <a:ext cx="658368" cy="65836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1" name="Image 3" descr="icons/mic_mi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264" y="4537984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5120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Activities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400" y="5486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to think, discuss &amp; share</a:t>
            </a:r>
            <a:endParaRPr lang="en-US" sz="1150" dirty="0"/>
          </a:p>
        </p:txBody>
      </p:sp>
      <p:sp>
        <p:nvSpPr>
          <p:cNvPr id="24" name="Shape 18">
            <a:hlinkClick r:id="rId11" action="ppaction://hlinksldjump"/>
          </p:cNvPr>
          <p:cNvSpPr/>
          <p:nvPr/>
        </p:nvSpPr>
        <p:spPr>
          <a:xfrm>
            <a:off x="4480560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7F8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45736" y="4379976"/>
            <a:ext cx="658368" cy="65836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6" name="Image 4" descr="icons/bulb_min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03744" y="4537984"/>
            <a:ext cx="342351" cy="3423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54880" y="5120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Tips for You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754880" y="5486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start doing right now</a:t>
            </a:r>
            <a:endParaRPr lang="en-US" sz="1150" dirty="0"/>
          </a:p>
        </p:txBody>
      </p:sp>
      <p:sp>
        <p:nvSpPr>
          <p:cNvPr id="29" name="Shape 22">
            <a:hlinkClick r:id="rId13" action="ppaction://hlinksldjump"/>
          </p:cNvPr>
          <p:cNvSpPr/>
          <p:nvPr/>
        </p:nvSpPr>
        <p:spPr>
          <a:xfrm>
            <a:off x="8321040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7F8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86216" y="4379976"/>
            <a:ext cx="658368" cy="65836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1" name="Image 5" descr="icons/question_min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44224" y="4537984"/>
            <a:ext cx="342351" cy="34235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95360" y="5120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Q&amp;A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595360" y="5486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me anything — seriously, anything!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Professional Life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ACTIVITY — SHOW OF HANDS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you hear “professional life,”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to mind first?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485900" y="3108960"/>
            <a:ext cx="822960" cy="822960"/>
          </a:xfrm>
          <a:prstGeom prst="ellipse">
            <a:avLst/>
          </a:prstGeom>
          <a:solidFill>
            <a:srgbClr val="F2F7F8"/>
          </a:solidFill>
          <a:ln/>
        </p:spPr>
      </p:sp>
      <p:pic>
        <p:nvPicPr>
          <p:cNvPr id="7" name="Image 0" descr="icons/tie_deep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410" y="330647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114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Suits &amp; Meetings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29000" y="274320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274820" y="3108960"/>
            <a:ext cx="822960" cy="822960"/>
          </a:xfrm>
          <a:prstGeom prst="ellipse">
            <a:avLst/>
          </a:prstGeom>
          <a:solidFill>
            <a:srgbClr val="F2F7F8"/>
          </a:solidFill>
          <a:ln/>
        </p:spPr>
      </p:sp>
      <p:pic>
        <p:nvPicPr>
          <p:cNvPr id="11" name="Image 1" descr="icons/chart_deep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330" y="330647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4114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&amp; Success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217920" y="274320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7063740" y="3108960"/>
            <a:ext cx="822960" cy="822960"/>
          </a:xfrm>
          <a:prstGeom prst="ellipse">
            <a:avLst/>
          </a:prstGeom>
          <a:solidFill>
            <a:srgbClr val="F2F7F8"/>
          </a:solidFill>
          <a:ln/>
        </p:spPr>
      </p:sp>
      <p:pic>
        <p:nvPicPr>
          <p:cNvPr id="15" name="Image 2" descr="icons/clock_deep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1250" y="330647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55080" y="4114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&amp; Deadlines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9006840" y="274320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9852660" y="3108960"/>
            <a:ext cx="822960" cy="822960"/>
          </a:xfrm>
          <a:prstGeom prst="ellipse">
            <a:avLst/>
          </a:prstGeom>
          <a:solidFill>
            <a:srgbClr val="F2F7F8"/>
          </a:solidFill>
          <a:ln/>
        </p:spPr>
      </p:sp>
      <p:pic>
        <p:nvPicPr>
          <p:cNvPr id="19" name="Image 3" descr="icons/rocket_deep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0170" y="3306470"/>
            <a:ext cx="427939" cy="42793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0" y="4114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Freedom &amp; Growth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40080" y="5349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for the option that matches your first thought!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Professional Life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STORY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 So Far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3931920"/>
            <a:ext cx="97840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" y="354330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icons/grad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638" y="372983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1995–2009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Here, This School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-91440" y="4572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Non-Medical stream. Same classrooms, same board-exam nerves.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061460" y="354330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1" name="Image 1" descr="icons/laptop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7998" y="372983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4424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2009–2013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26136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B.Tech, Computer Science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169920" y="4572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Technical University — discovered a love for design along the way.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22820" y="354330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2" descr="icons/teacher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9358" y="372983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0560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2013–2020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52272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Career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31280" y="4572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to Product Designer — learning across companies.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10584180" y="354330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1" name="Image 3" descr="icons/briefcase_m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0718" y="372983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96696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2020–Present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78408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13+ Years, HCLSoftware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692640" y="4572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Deputy Manager, UI/UX Design at HCLSoftware.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Professional Life</a:t>
            </a:r>
            <a:endParaRPr lang="en-US" sz="1000" dirty="0"/>
          </a:p>
        </p:txBody>
      </p:sp>
      <p:sp>
        <p:nvSpPr>
          <p:cNvPr id="27" name="Arrow 27"/>
          <p:cNvSpPr/>
          <p:nvPr/>
        </p:nvSpPr>
        <p:spPr>
          <a:xfrm>
            <a:off x="1650000" y="3781920"/>
            <a:ext cx="500000" cy="300000"/>
          </a:xfrm>
          <a:prstGeom prst="rightArrow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Arrow 28"/>
          <p:cNvSpPr/>
          <p:nvPr/>
        </p:nvSpPr>
        <p:spPr>
          <a:xfrm>
            <a:off x="6110760" y="3781920"/>
            <a:ext cx="500000" cy="300000"/>
          </a:xfrm>
          <a:prstGeom prst="rightArrow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Arrow 29"/>
          <p:cNvSpPr/>
          <p:nvPr/>
        </p:nvSpPr>
        <p:spPr>
          <a:xfrm>
            <a:off x="9092120" y="3781920"/>
            <a:ext cx="500000" cy="300000"/>
          </a:xfrm>
          <a:prstGeom prst="rightArrow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7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9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1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3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5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4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6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8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3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5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7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9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1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  <p:bldP spid="16" grpId="0"/>
      <p:bldP spid="17" grpId="0" animBg="1"/>
      <p:bldP spid="18" grpId="0" animBg="1"/>
      <p:bldP spid="19" grpId="0" animBg="1"/>
      <p:bldP spid="20" grpId="0" animBg="1"/>
      <p:bldP spid="21" grpId="0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SHIFT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Life vs. Professional Life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E9F3F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LIFE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691640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6263640" y="16916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LIFE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10835640" cy="777240"/>
          </a:xfrm>
          <a:prstGeom prst="rect">
            <a:avLst/>
          </a:prstGeom>
          <a:solidFill>
            <a:srgbClr val="F2F7F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774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timetable tells you what to 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23774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priorities — and manage your own 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1546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 test what you've memorised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31546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reviews judge what you deliver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10835640" cy="777240"/>
          </a:xfrm>
          <a:prstGeom prst="rect">
            <a:avLst/>
          </a:prstGeom>
          <a:solidFill>
            <a:srgbClr val="F2F7F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319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guide you step-by-step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39319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expected to solve problems independently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470916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class stays mostly the same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47091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managers &amp; projects keep changing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486400"/>
            <a:ext cx="10835640" cy="777240"/>
          </a:xfrm>
          <a:prstGeom prst="rect">
            <a:avLst/>
          </a:prstGeom>
          <a:solidFill>
            <a:srgbClr val="F2F7F8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4864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are corrected with red ink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54864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can affect clients, teams &amp; deadlines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Professional Life</a:t>
            </a:r>
            <a:endParaRPr lang="en-US" sz="1000" dirty="0"/>
          </a:p>
        </p:txBody>
      </p:sp>
      <p:sp>
        <p:nvSpPr>
          <p:cNvPr id="23" name="Back Link"/>
          <p:cNvSpPr/>
          <p:nvPr/>
        </p:nvSpPr>
        <p:spPr>
          <a:xfrm>
            <a:off x="8200000" y="6400800"/>
            <a:ext cx="3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u="sng" dirty="0">
                <a:solidFill>
                  <a:srgbClr val="1C7293"/>
                </a:solidFill>
                <a:latin typeface="Calibri" pitchFamily="34" charset="0"/>
                <a:hlinkClick r:id="rId3" action="ppaction://hlinksldjump"/>
              </a:rPr>
              <a:t>↩ Back to Roadmap</a:t>
            </a:r>
            <a:endParaRPr lang="en-US" sz="1000" dirty="0"/>
          </a:p>
        </p:txBody>
      </p:sp>
      <p:sp>
        <p:nvSpPr>
          <p:cNvPr id="24" name="Arrow 24"/>
          <p:cNvSpPr/>
          <p:nvPr/>
        </p:nvSpPr>
        <p:spPr>
          <a:xfrm>
            <a:off x="5835040" y="2616060"/>
            <a:ext cx="400000" cy="300000"/>
          </a:xfrm>
          <a:prstGeom prst="rightArrow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Arrow 25"/>
          <p:cNvSpPr/>
          <p:nvPr/>
        </p:nvSpPr>
        <p:spPr>
          <a:xfrm>
            <a:off x="5835040" y="3393300"/>
            <a:ext cx="400000" cy="300000"/>
          </a:xfrm>
          <a:prstGeom prst="rightArrow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Arrow 26"/>
          <p:cNvSpPr/>
          <p:nvPr/>
        </p:nvSpPr>
        <p:spPr>
          <a:xfrm>
            <a:off x="5835040" y="4170540"/>
            <a:ext cx="400000" cy="300000"/>
          </a:xfrm>
          <a:prstGeom prst="rightArrow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Arrow 27"/>
          <p:cNvSpPr/>
          <p:nvPr/>
        </p:nvSpPr>
        <p:spPr>
          <a:xfrm>
            <a:off x="5835040" y="4947780"/>
            <a:ext cx="400000" cy="300000"/>
          </a:xfrm>
          <a:prstGeom prst="rightArrow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Arrow 28"/>
          <p:cNvSpPr/>
          <p:nvPr/>
        </p:nvSpPr>
        <p:spPr>
          <a:xfrm>
            <a:off x="5835040" y="5725020"/>
            <a:ext cx="400000" cy="300000"/>
          </a:xfrm>
          <a:prstGeom prst="rightArrow">
            <a:avLst/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7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1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3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8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0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2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3200400" cy="5120640"/>
          </a:xfrm>
          <a:prstGeom prst="roundRect">
            <a:avLst>
              <a:gd name="adj" fmla="val 3429"/>
            </a:avLst>
          </a:prstGeom>
          <a:solidFill>
            <a:srgbClr val="21295C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874520"/>
            <a:ext cx="1737360" cy="1737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566" y="2291486"/>
            <a:ext cx="903427" cy="903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74904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151376" y="1207008"/>
            <a:ext cx="384048" cy="38404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8" name="Image 1" descr="icons/targ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48" y="1299180"/>
            <a:ext cx="199705" cy="1997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9160" y="114300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degree gets you the job — it doesn't keep you good at it.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151376" y="2075688"/>
            <a:ext cx="384048" cy="38404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11" name="Image 2" descr="icons/targ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48" y="2167860"/>
            <a:ext cx="199705" cy="1997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09160" y="20116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software &amp; trends change every 1–2 years in most careers.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4151376" y="2944368"/>
            <a:ext cx="384048" cy="38404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14" name="Image 3" descr="icons/targ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48" y="3036540"/>
            <a:ext cx="199705" cy="1997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09160" y="288036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my field, new design tools and AI features appear almost every quarter.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4151376" y="3813048"/>
            <a:ext cx="384048" cy="38404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17" name="Image 4" descr="icons/targ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48" y="3905220"/>
            <a:ext cx="199705" cy="19970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709160" y="374904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stop learning after college fall behind fastest.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4069080" y="4709160"/>
            <a:ext cx="7315200" cy="1051560"/>
          </a:xfrm>
          <a:prstGeom prst="roundRect">
            <a:avLst>
              <a:gd name="adj" fmla="val 8696"/>
            </a:avLst>
          </a:prstGeom>
          <a:solidFill>
            <a:srgbClr val="F2A93B"/>
          </a:solidFill>
          <a:ln/>
        </p:spPr>
      </p:sp>
      <p:sp>
        <p:nvSpPr>
          <p:cNvPr id="20" name="Text 13"/>
          <p:cNvSpPr/>
          <p:nvPr/>
        </p:nvSpPr>
        <p:spPr>
          <a:xfrm>
            <a:off x="4297680" y="470916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 Think about it:  </a:t>
            </a: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one new skill (even outside your syllabus) you could start learning this year?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Professional Life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3200400" cy="5120640"/>
          </a:xfrm>
          <a:prstGeom prst="roundRect">
            <a:avLst>
              <a:gd name="adj" fmla="val 3429"/>
            </a:avLst>
          </a:prstGeom>
          <a:solidFill>
            <a:srgbClr val="21295C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874520"/>
            <a:ext cx="1737360" cy="1737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566" y="2291486"/>
            <a:ext cx="903427" cy="903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74904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Deadlines &amp;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Pressure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151376" y="1207008"/>
            <a:ext cx="384048" cy="38404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8" name="Image 1" descr="icons/targ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48" y="1299180"/>
            <a:ext cx="199705" cy="1997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9160" y="114300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term exam date, deadlines can shift suddenly — clients, managers &amp; markets don't wait.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151376" y="2075688"/>
            <a:ext cx="384048" cy="38404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11" name="Image 2" descr="icons/targ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48" y="2167860"/>
            <a:ext cx="199705" cy="1997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09160" y="20116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projects often land on your desk at the same time.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4151376" y="2944368"/>
            <a:ext cx="384048" cy="38404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14" name="Image 3" descr="icons/targ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48" y="3036540"/>
            <a:ext cx="199705" cy="1997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09160" y="288036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'I need one more day' has real consequences on a live project.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4151376" y="3813048"/>
            <a:ext cx="384048" cy="38404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17" name="Image 4" descr="icons/targ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48" y="3905220"/>
            <a:ext cx="199705" cy="19970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709160" y="374904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 prioritize is more valuable than working longer hours.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4069080" y="4709160"/>
            <a:ext cx="7315200" cy="1051560"/>
          </a:xfrm>
          <a:prstGeom prst="roundRect">
            <a:avLst>
              <a:gd name="adj" fmla="val 8696"/>
            </a:avLst>
          </a:prstGeom>
          <a:solidFill>
            <a:srgbClr val="F2A93B"/>
          </a:solidFill>
          <a:ln/>
        </p:spPr>
      </p:sp>
      <p:sp>
        <p:nvSpPr>
          <p:cNvPr id="20" name="Text 13"/>
          <p:cNvSpPr/>
          <p:nvPr/>
        </p:nvSpPr>
        <p:spPr>
          <a:xfrm>
            <a:off x="4297680" y="470916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 Think about it:  </a:t>
            </a: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currently decide what to finish first when you have too much homework at once?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Professional Life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3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3200400" cy="5120640"/>
          </a:xfrm>
          <a:prstGeom prst="roundRect">
            <a:avLst>
              <a:gd name="adj" fmla="val 3429"/>
            </a:avLst>
          </a:prstGeom>
          <a:solidFill>
            <a:srgbClr val="21295C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874520"/>
            <a:ext cx="1737360" cy="1737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mmen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566" y="2291486"/>
            <a:ext cx="903427" cy="903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74904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&amp;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Teamwork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151376" y="1207008"/>
            <a:ext cx="384048" cy="38404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8" name="Image 1" descr="icons/targ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48" y="1299180"/>
            <a:ext cx="199705" cy="1997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9160" y="114300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'right' matters less than being understood by your team.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151376" y="2075688"/>
            <a:ext cx="384048" cy="38404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11" name="Image 2" descr="icons/targ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48" y="2167860"/>
            <a:ext cx="199705" cy="1997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09160" y="20116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work with people from different cities, cultures &amp; even countries.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4151376" y="2944368"/>
            <a:ext cx="384048" cy="38404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14" name="Image 3" descr="icons/targ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48" y="3036540"/>
            <a:ext cx="199705" cy="1997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09160" y="288036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workplace conflicts come from unclear communication, not bad intentions.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4151376" y="3813048"/>
            <a:ext cx="384048" cy="38404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17" name="Image 4" descr="icons/targ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48" y="3905220"/>
            <a:ext cx="199705" cy="19970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709160" y="374904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and receiving feedback gracefully is a daily skill, not a one-time event.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4069080" y="4709160"/>
            <a:ext cx="7315200" cy="1051560"/>
          </a:xfrm>
          <a:prstGeom prst="roundRect">
            <a:avLst>
              <a:gd name="adj" fmla="val 8696"/>
            </a:avLst>
          </a:prstGeom>
          <a:solidFill>
            <a:srgbClr val="F2A93B"/>
          </a:solidFill>
          <a:ln/>
        </p:spPr>
      </p:sp>
      <p:sp>
        <p:nvSpPr>
          <p:cNvPr id="20" name="Text 13"/>
          <p:cNvSpPr/>
          <p:nvPr/>
        </p:nvSpPr>
        <p:spPr>
          <a:xfrm>
            <a:off x="4297680" y="470916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 Think about it:  </a:t>
            </a: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group project in school that went wrong. Was it a skill problem — or a communication problem?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Professional Life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4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3200400" cy="5120640"/>
          </a:xfrm>
          <a:prstGeom prst="roundRect">
            <a:avLst>
              <a:gd name="adj" fmla="val 3429"/>
            </a:avLst>
          </a:prstGeom>
          <a:solidFill>
            <a:srgbClr val="21295C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874520"/>
            <a:ext cx="1737360" cy="1737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red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566" y="2291486"/>
            <a:ext cx="903427" cy="903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74904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Failure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Rejection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151376" y="1207008"/>
            <a:ext cx="384048" cy="38404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8" name="Image 1" descr="icons/targ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48" y="1299180"/>
            <a:ext cx="199705" cy="1997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9160" y="114300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professional has been rejected — in interviews, promotions, or ideas.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151376" y="2075688"/>
            <a:ext cx="384048" cy="38404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11" name="Image 2" descr="icons/targ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48" y="2167860"/>
            <a:ext cx="199705" cy="1997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09160" y="20116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in the workplace is usually a redo, not a permanent record.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4151376" y="2944368"/>
            <a:ext cx="384048" cy="38404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14" name="Image 3" descr="icons/targ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48" y="3036540"/>
            <a:ext cx="199705" cy="1997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09160" y="288036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people who succeed and people who don't is often just: who kept going.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4151376" y="3813048"/>
            <a:ext cx="384048" cy="38404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17" name="Image 4" descr="icons/targ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48" y="3905220"/>
            <a:ext cx="199705" cy="19970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709160" y="374904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is a skill you can practice — starting with school results.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4069080" y="4709160"/>
            <a:ext cx="7315200" cy="1051560"/>
          </a:xfrm>
          <a:prstGeom prst="roundRect">
            <a:avLst>
              <a:gd name="adj" fmla="val 8696"/>
            </a:avLst>
          </a:prstGeom>
          <a:solidFill>
            <a:srgbClr val="F2A93B"/>
          </a:solidFill>
          <a:ln/>
        </p:spPr>
      </p:sp>
      <p:sp>
        <p:nvSpPr>
          <p:cNvPr id="20" name="Text 13"/>
          <p:cNvSpPr/>
          <p:nvPr/>
        </p:nvSpPr>
        <p:spPr>
          <a:xfrm>
            <a:off x="4297680" y="470916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 Think about it:  </a:t>
            </a: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time you didn't do well in a test or competition. What did you do right after?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Professional Life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5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3200400" cy="5120640"/>
          </a:xfrm>
          <a:prstGeom prst="roundRect">
            <a:avLst>
              <a:gd name="adj" fmla="val 3429"/>
            </a:avLst>
          </a:prstGeom>
          <a:solidFill>
            <a:srgbClr val="21295C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874520"/>
            <a:ext cx="1737360" cy="1737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heartbe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566" y="2291486"/>
            <a:ext cx="903427" cy="903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74904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Work-Life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151376" y="1207008"/>
            <a:ext cx="384048" cy="38404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8" name="Image 1" descr="icons/targ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48" y="1299180"/>
            <a:ext cx="199705" cy="1997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9160" y="114300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can quietly expand to fill all your time if you let it.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151376" y="2075688"/>
            <a:ext cx="384048" cy="38404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11" name="Image 2" descr="icons/targ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48" y="2167860"/>
            <a:ext cx="199705" cy="1997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09160" y="20116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is real — and it affects even high performers.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4151376" y="2944368"/>
            <a:ext cx="384048" cy="38404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14" name="Image 3" descr="icons/targ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48" y="3036540"/>
            <a:ext cx="199705" cy="1997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09160" y="288036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daily habits (sleep, exercise, hobbies) protect long-term performance.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4151376" y="3813048"/>
            <a:ext cx="384048" cy="38404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17" name="Image 4" descr="icons/targ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48" y="3905220"/>
            <a:ext cx="199705" cy="19970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709160" y="374904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you set early become the habits you keep for life.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4069080" y="4709160"/>
            <a:ext cx="7315200" cy="1051560"/>
          </a:xfrm>
          <a:prstGeom prst="roundRect">
            <a:avLst>
              <a:gd name="adj" fmla="val 8696"/>
            </a:avLst>
          </a:prstGeom>
          <a:solidFill>
            <a:srgbClr val="F2A93B"/>
          </a:solidFill>
          <a:ln/>
        </p:spPr>
      </p:sp>
      <p:sp>
        <p:nvSpPr>
          <p:cNvPr id="20" name="Text 13"/>
          <p:cNvSpPr/>
          <p:nvPr/>
        </p:nvSpPr>
        <p:spPr>
          <a:xfrm>
            <a:off x="4297680" y="470916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 Think about it:  </a:t>
            </a: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one activity (sport, art, music) you enjoy today that you'd want to protect time for, even with a busy career?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Professional Life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6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3200400" cy="5120640"/>
          </a:xfrm>
          <a:prstGeom prst="roundRect">
            <a:avLst>
              <a:gd name="adj" fmla="val 3429"/>
            </a:avLst>
          </a:prstGeom>
          <a:solidFill>
            <a:srgbClr val="21295C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874520"/>
            <a:ext cx="1737360" cy="1737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sync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566" y="2291486"/>
            <a:ext cx="903427" cy="903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74904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Adapting to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&amp; Technology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151376" y="1207008"/>
            <a:ext cx="384048" cy="38404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8" name="Image 1" descr="icons/targ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48" y="1299180"/>
            <a:ext cx="199705" cy="1997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9160" y="114300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and skills in demand today may look different in 5 years.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151376" y="2075688"/>
            <a:ext cx="384048" cy="38404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11" name="Image 2" descr="icons/targ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48" y="2167860"/>
            <a:ext cx="199705" cy="1997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09160" y="20116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already changing how many jobs — including mine — are done.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4151376" y="2944368"/>
            <a:ext cx="384048" cy="38404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14" name="Image 3" descr="icons/targ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48" y="3036540"/>
            <a:ext cx="199705" cy="1997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09160" y="288036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stay curious and flexible adapt faster than those who resist change.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4151376" y="3813048"/>
            <a:ext cx="384048" cy="384048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17" name="Image 4" descr="icons/targe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548" y="3905220"/>
            <a:ext cx="199705" cy="19970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709160" y="374904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biggest asset isn't one skill — it's the ability to learn the next one.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4069080" y="4709160"/>
            <a:ext cx="7315200" cy="1051560"/>
          </a:xfrm>
          <a:prstGeom prst="roundRect">
            <a:avLst>
              <a:gd name="adj" fmla="val 8696"/>
            </a:avLst>
          </a:prstGeom>
          <a:solidFill>
            <a:srgbClr val="F2A93B"/>
          </a:solidFill>
          <a:ln/>
        </p:spPr>
      </p:sp>
      <p:sp>
        <p:nvSpPr>
          <p:cNvPr id="20" name="Text 13"/>
          <p:cNvSpPr/>
          <p:nvPr/>
        </p:nvSpPr>
        <p:spPr>
          <a:xfrm>
            <a:off x="4297680" y="470916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 Think about it:  </a:t>
            </a: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new technology could do part of your dream job automatically, what human skill would still matter?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Professional Life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DO THIS TOGETHER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– Pair – Share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943100" y="246888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194310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(1 min)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challenge from today that worries you the most.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1031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692140" y="246888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569214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17720" y="3520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 (2 min)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9319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 the person next to you and discuss why it worries you.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210312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441180" y="246888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944118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366760" y="3520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(2 min)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39319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pairs will share with the whole class.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Professional Life</a:t>
            </a:r>
            <a:endParaRPr lang="en-US" sz="1000" dirty="0"/>
          </a:p>
        </p:txBody>
      </p:sp>
      <p:sp>
        <p:nvSpPr>
          <p:cNvPr id="22" name="Back Link"/>
          <p:cNvSpPr/>
          <p:nvPr/>
        </p:nvSpPr>
        <p:spPr>
          <a:xfrm>
            <a:off x="8200000" y="6400800"/>
            <a:ext cx="3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u="sng" dirty="0">
                <a:solidFill>
                  <a:srgbClr val="1C7293"/>
                </a:solidFill>
                <a:latin typeface="Calibri" pitchFamily="34" charset="0"/>
                <a:hlinkClick r:id="rId3" action="ppaction://hlinksldjump"/>
              </a:rPr>
              <a:t>↩ Back to Roadmap</a:t>
            </a:r>
            <a:endParaRPr lang="en-US" sz="1000" dirty="0"/>
          </a:p>
        </p:txBody>
      </p:sp>
      <p:sp>
        <p:nvSpPr>
          <p:cNvPr id="23" name="Arrow 23"/>
          <p:cNvSpPr/>
          <p:nvPr/>
        </p:nvSpPr>
        <p:spPr>
          <a:xfrm>
            <a:off x="4104100" y="2780360"/>
            <a:ext cx="250000" cy="200000"/>
          </a:xfrm>
          <a:prstGeom prst="rightArrow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Arrow 24"/>
          <p:cNvSpPr/>
          <p:nvPr/>
        </p:nvSpPr>
        <p:spPr>
          <a:xfrm>
            <a:off x="7853140" y="2780360"/>
            <a:ext cx="250000" cy="200000"/>
          </a:xfrm>
          <a:prstGeom prst="rightArrow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7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9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1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3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5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4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6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8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011680"/>
            <a:ext cx="5029200" cy="5029200"/>
          </a:xfrm>
          <a:prstGeom prst="ellipse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STORY FROM MY CAREER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Time I Almost Gave Up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2514600"/>
            <a:ext cx="914400" cy="914400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7" name="Image 0" descr="icons/bulbOutline_deep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056" y="273405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14600" y="2286000"/>
            <a:ext cx="8595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 my career, a design I had worked on for weeks was rejected by a client in front of my whole team. It felt personal, and for a few days I genuinely doubted if this field was right for me.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things was going back to the feedback, separating the criticism of the WORK from my worth as a person, and rebuilding the design with that input instead of my ego. That redesign became one of the strongest pieces in my portfolio.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2514600" y="4709160"/>
            <a:ext cx="8595360" cy="1051560"/>
          </a:xfrm>
          <a:prstGeom prst="roundRect">
            <a:avLst>
              <a:gd name="adj" fmla="val 6957"/>
            </a:avLst>
          </a:prstGeom>
          <a:solidFill>
            <a:srgbClr val="F2F7F8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0" y="470916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lesson:  </a:t>
            </a: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 your work is not a verdict on your worth. Learn to separate the two — early and often.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Professional Life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Tips to Start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7F8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23544" y="2066544"/>
            <a:ext cx="621792" cy="621792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icons/comments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774" y="2215774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speaking up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class, join debates, present confidently. Communication is trained, not born.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80560" y="1874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7F8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64024" y="2066544"/>
            <a:ext cx="621792" cy="621792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1" name="Image 1" descr="icons/laptop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3254" y="2215774"/>
            <a:ext cx="323332" cy="323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6592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a real-world skill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736592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basic coding, design, or writing tools — not for marks, just for curiosity.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321040" y="1874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7F8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04504" y="2066544"/>
            <a:ext cx="621792" cy="621792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2" descr="icons/redo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3734" y="2215774"/>
            <a:ext cx="323332" cy="3233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77072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comfortable with 'not perfect'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577072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competitions, fail sometimes. It builds the resilience professional life demands.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7F8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3544" y="4352544"/>
            <a:ext cx="621792" cy="621792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1" name="Image 3" descr="icons/users_m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774" y="4501774"/>
            <a:ext cx="323332" cy="3233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5029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in teams often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96112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projects are practice for real colleagues. Learn to disagree respectfully.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80560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7F8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64024" y="4352544"/>
            <a:ext cx="621792" cy="621792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6" name="Image 4" descr="icons/map_mi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3254" y="4501774"/>
            <a:ext cx="323332" cy="3233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36592" y="5029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your stream thoughtfully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736592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based on genuine interest and strengths — talk to seniors, teachers &amp; professionals.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321040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7F8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604504" y="4352544"/>
            <a:ext cx="621792" cy="621792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1" name="Image 5" descr="icons/seedling_mi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3734" y="4501774"/>
            <a:ext cx="323332" cy="3233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77072" y="5029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your habits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577072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Sleep, exercise, hobbies aren't a waste of time — they're your long-term fuel.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Professional Life</a:t>
            </a:r>
            <a:endParaRPr lang="en-US" sz="1000" dirty="0"/>
          </a:p>
        </p:txBody>
      </p:sp>
      <p:sp>
        <p:nvSpPr>
          <p:cNvPr id="36" name="Back Link"/>
          <p:cNvSpPr/>
          <p:nvPr/>
        </p:nvSpPr>
        <p:spPr>
          <a:xfrm>
            <a:off x="8200000" y="6400800"/>
            <a:ext cx="3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u="sng" dirty="0">
                <a:solidFill>
                  <a:srgbClr val="1C7293"/>
                </a:solidFill>
                <a:latin typeface="Calibri" pitchFamily="34" charset="0"/>
                <a:hlinkClick r:id="rId9" action="ppaction://hlinksldjump"/>
              </a:rPr>
              <a:t>↩ Back to Roadmap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7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9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1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3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4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9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1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3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5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0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2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4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6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1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3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5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7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  <p:bldP spid="16" grpId="0"/>
      <p:bldP spid="17" grpId="0" animBg="1"/>
      <p:bldP spid="18" grpId="0" animBg="1"/>
      <p:bldP spid="19" grpId="0" animBg="1"/>
      <p:bldP spid="20" grpId="0" animBg="1"/>
      <p:bldP spid="21" grpId="0"/>
      <p:bldP spid="22" grpId="0" animBg="1"/>
      <p:bldP spid="23" grpId="0" animBg="1"/>
      <p:bldP spid="24" grpId="0" animBg="1"/>
      <p:bldP spid="25" grpId="0" animBg="1"/>
      <p:bldP spid="26" grpId="0"/>
      <p:bldP spid="27" grpId="0" animBg="1"/>
      <p:bldP spid="28" grpId="0" animBg="1"/>
      <p:bldP spid="29" grpId="0" animBg="1"/>
      <p:bldP spid="30" grpId="0" animBg="1"/>
      <p:bldP spid="31" grpId="0"/>
      <p:bldP spid="32" grpId="0" animBg="1"/>
      <p:bldP spid="3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029200" cy="502920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FIRE RECAP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Quick! Name a Challenge...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7863840" cy="71323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965960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...you'd find hardest personally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7863840" cy="71323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834640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...you already handle well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7863840" cy="71323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703320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...that surprised you today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572000"/>
            <a:ext cx="7863840" cy="71323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572000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...your parents talk about at home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5440680"/>
            <a:ext cx="7863840" cy="71323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5440680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...you want to ask me more about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052560" y="1965960"/>
            <a:ext cx="2514600" cy="41148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902952" y="2468880"/>
            <a:ext cx="822960" cy="822960"/>
          </a:xfrm>
          <a:prstGeom prst="ellipse">
            <a:avLst/>
          </a:prstGeom>
          <a:solidFill>
            <a:srgbClr val="E9F3F4"/>
          </a:solidFill>
          <a:ln/>
        </p:spPr>
      </p:sp>
      <p:pic>
        <p:nvPicPr>
          <p:cNvPr id="18" name="Image 0" descr="icons/mic_deep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0462" y="2666390"/>
            <a:ext cx="427939" cy="42793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235440" y="35204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30-second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only!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281160" y="443484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on volunteers around the room — no wrong answers here.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Professional Life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1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1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presetID="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2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48056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04688" y="1143000"/>
            <a:ext cx="1188720" cy="11887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question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981" y="1428293"/>
            <a:ext cx="618134" cy="618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060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me anything — about careers, tech, UI/UX, HCL, or life after school.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55848" y="438912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355848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Dilraj Singh Chahal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355848" y="4937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Deputy Manager, UI/UX — HCLSoftware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355848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dil.raj25@gmail.com  |  linkedin.com/in/dilrajsinghchahal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Professional Life</a:t>
            </a:r>
            <a:endParaRPr lang="en-US" sz="1000" dirty="0"/>
          </a:p>
        </p:txBody>
      </p:sp>
      <p:sp>
        <p:nvSpPr>
          <p:cNvPr id="14" name="Back Link"/>
          <p:cNvSpPr/>
          <p:nvPr/>
        </p:nvSpPr>
        <p:spPr>
          <a:xfrm>
            <a:off x="8200000" y="6400800"/>
            <a:ext cx="3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u="sng" dirty="0">
                <a:solidFill>
                  <a:srgbClr val="1C7293"/>
                </a:solidFill>
                <a:latin typeface="Calibri" pitchFamily="34" charset="0"/>
                <a:hlinkClick r:id="rId4" action="ppaction://hlinksldjump"/>
              </a:rPr>
              <a:t>↩ Back to Roadmap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2128</Words>
  <Application>Microsoft Office PowerPoint</Application>
  <PresentationFormat>Widescreen</PresentationFormat>
  <Paragraphs>235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Challenges in Professional Life</dc:title>
  <dc:subject>PptxGenJS Presentation</dc:subject>
  <dc:creator>Dilraj Singh Chahal</dc:creator>
  <cp:lastModifiedBy>Dilraj Singh Chahal</cp:lastModifiedBy>
  <cp:revision>2</cp:revision>
  <dcterms:created xsi:type="dcterms:W3CDTF">2026-07-07T04:26:03Z</dcterms:created>
  <dcterms:modified xsi:type="dcterms:W3CDTF">2026-07-09T12:06:33Z</dcterms:modified>
</cp:coreProperties>
</file>
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students warmly. Introduce the topic as something you wish someone had told YOU when you were sitting in their seats. Keep energy high from slide 1 - smile, make eye contact. Total time budget: ~60 minutes across 17 slides, roughly 3-3.5 min/slide including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warm and personal, not a resume reading. Mention a specific memory of the school if you have one (a teacher, a classroom, a moment) to build instant connection. This builds credibility for everything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Quickly preview the flow so students know what to expect and when the interactive parts are coming - this helps manage their attention for a full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Actually pause and count hands for each option out loud. This is your first interactive moment - use it to energize the room. Briefly react to the results before moving on (e.g., 'Interesting, most of you picked stress and deadlines...').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timeline briefly (1-2 sentences per stage). The point: it's a normal, non-linear path - not everyone knows their direction at 16, and that's okay.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row by row and ask 'does this sound familiar to what your seniors or parents describe?' Keep pace quick, this is a set-up slide for the challenges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 real example - e.g., how UI/UX tools like Figma plugins or AI design assistants changed how you work compared to when you started. Ask 1-2 students to shout out a skill they're curious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very relatable to board-exam prep. Draw the parallel: managing 5 subjects before exams is training for managing 5 tasks before a deadline. Ask for a quick show of hands: who already makes a priority list?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2-3 students to briefly share group project experiences. Connect it to real workplace stand-up meetings and email/chat communication.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a genuine, appropriately-scaled personal example of a setback early in your career and how you responded - this builds trust and normalizes failure. Keep tone encouraging, not heavy.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supportive and non-alarming for 15-16 year olds. Emphasize balance as a skill to build now through hobbies and routines, not just a corporate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great slide for discussion since AI is topical for this age group. Let a few students speculate before offering your view (creativity, empathy, judgement, communication tend to stay valuable).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Actually run this activity for ~5 minutes - set a visible timer if possible. Walk around the room while pairs discuss. Call on 3-4 pairs to share afterward. This is the energizer for the second half of the seminar.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IMPORTANT: This is a sample story structure - replace the story text with YOUR real, specific experience for maximum authenticity and impact. Students respond much better to genuine, specific stories than generic advice. Keep it honest, age-appropriate, and end on the lesson learned.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these a bit faster - they reinforce the challenges already discussed. Ask students which one they'll try first before moving to the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 these prompts rapidly at different students (cold-call gently, or ask for volunteers). Keep energy up - this cements retention right before closing. Aim for 5 minutes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5-8 minutes for genuine Q&amp;A. Add your real contact/LinkedIn detail on this slide before presenting. Close by thanking the school and encouraging students that their journey is just beginning.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3291840" cy="3291840"/>
          </a:xfrm>
          <a:prstGeom prst="ellipse">
            <a:avLst/>
          </a:prstGeom>
          <a:solidFill>
            <a:srgbClr val="1C7293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480560"/>
            <a:ext cx="3291840" cy="329184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SEMINAR FOR GRADE 10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8778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in</a:t>
            </a:r>
            <a:endParaRPr lang="en-US" sz="5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Life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tells you about life after school — and how to prepare for it, starting today.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52120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9" name="Image 0" descr="icons/ti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350" y="5409590"/>
            <a:ext cx="427939" cy="42793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965960" y="52852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Dilraj Singh Chahal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96596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Deputy Manager, UI/UX — HCLSoftware  |  Alumnus, Class of 2009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3291840" cy="5760720"/>
          </a:xfrm>
          <a:prstGeom prst="roundRect">
            <a:avLst>
              <a:gd name="adj" fmla="val 3333"/>
            </a:avLst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1417320" y="1554480"/>
            <a:ext cx="1554480" cy="15544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" name="Image 0" descr="icons/ti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0395" y="1927555"/>
            <a:ext cx="808330" cy="80833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246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Dilraj Singh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Chahal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22960" y="4343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Deputy Manager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Design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HCLSoftware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68680" y="557784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1FBF9F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5778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13+ YEARS EXPERIENCE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BEGIN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Little About Me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4425696" y="1700784"/>
            <a:ext cx="566928" cy="56692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2" name="Image 1" descr="icons/grad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1759" y="1836847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20640" y="1691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of 2009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120640" y="201168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sat in a classroom in this very school — probably as nervous about exams as some of you are right now.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425696" y="2752344"/>
            <a:ext cx="566928" cy="56692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6" name="Image 2" descr="icons/laptop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759" y="288840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20640" y="274320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B.Tech, Computer Science (2009–13)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120640" y="306324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Punjab Technical University — then found my real passion in designing how people experience technology.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425696" y="3803904"/>
            <a:ext cx="566928" cy="56692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20" name="Image 3" descr="icons/briefcas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1759" y="3939967"/>
            <a:ext cx="294803" cy="29480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120640" y="379476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13+ Years in the Industry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120640" y="411480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my way up from a first job in 2013 to Deputy Manager, UI/UX at HCLSoftware today.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4425696" y="4855464"/>
            <a:ext cx="566928" cy="56692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24" name="Image 4" descr="icons/handshak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1759" y="4991527"/>
            <a:ext cx="294803" cy="29480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120640" y="4846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I'm here today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120640" y="516636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the real, unfiltered challenges of professional life — and how you can prepare for them now.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Explore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05256" y="2093976"/>
            <a:ext cx="658368" cy="658368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6" name="Image 0" descr="icons/map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264" y="2251984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834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Journey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32004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this classroom to a corporate career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80560" y="1874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45736" y="2093976"/>
            <a:ext cx="658368" cy="658368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1" name="Image 1" descr="icons/balance_m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744" y="2251984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2834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 vs. Professional Life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754880" y="32004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changes after graduation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21040" y="1874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86216" y="2093976"/>
            <a:ext cx="658368" cy="658368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6" name="Image 2" descr="icons/target_m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4224" y="2251984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2834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Real Challenges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595360" y="32004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struggles of working life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4160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5256" y="4379976"/>
            <a:ext cx="658368" cy="658368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1" name="Image 3" descr="icons/mic_m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264" y="4537984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Activities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914400" y="54864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to think, discuss &amp; share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80560" y="4160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45736" y="4379976"/>
            <a:ext cx="658368" cy="658368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6" name="Image 4" descr="icons/bulb_mi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3744" y="4537984"/>
            <a:ext cx="342351" cy="34235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54880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Tips for You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754880" y="54864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start doing right now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321040" y="4160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586216" y="4379976"/>
            <a:ext cx="658368" cy="658368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31" name="Image 5" descr="icons/question_mi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4224" y="4537984"/>
            <a:ext cx="342351" cy="34235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95360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Q&amp;A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595360" y="54864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anything — seriously, anything!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828800"/>
            <a:ext cx="5486400" cy="54864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ACTIVITY — SHOW OF HANDS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hear “professional life,”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to mind first?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485900" y="3108960"/>
            <a:ext cx="822960" cy="822960"/>
          </a:xfrm>
          <a:prstGeom prst="ellipse">
            <a:avLst/>
          </a:prstGeom>
          <a:solidFill>
            <a:srgbClr val="F2F7F8"/>
          </a:solidFill>
          <a:ln/>
        </p:spPr>
      </p:sp>
      <p:pic>
        <p:nvPicPr>
          <p:cNvPr id="7" name="Image 0" descr="icons/tie_deep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3410" y="3306470"/>
            <a:ext cx="427939" cy="42793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4114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Suits &amp; Meetings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274320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4274820" y="3108960"/>
            <a:ext cx="822960" cy="822960"/>
          </a:xfrm>
          <a:prstGeom prst="ellipse">
            <a:avLst/>
          </a:prstGeom>
          <a:solidFill>
            <a:srgbClr val="F2F7F8"/>
          </a:solidFill>
          <a:ln/>
        </p:spPr>
      </p:sp>
      <p:pic>
        <p:nvPicPr>
          <p:cNvPr id="11" name="Image 1" descr="icons/chart_deep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330" y="330647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4114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 &amp; Success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217920" y="274320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7063740" y="3108960"/>
            <a:ext cx="822960" cy="822960"/>
          </a:xfrm>
          <a:prstGeom prst="ellipse">
            <a:avLst/>
          </a:prstGeom>
          <a:solidFill>
            <a:srgbClr val="F2F7F8"/>
          </a:solidFill>
          <a:ln/>
        </p:spPr>
      </p:sp>
      <p:pic>
        <p:nvPicPr>
          <p:cNvPr id="15" name="Image 2" descr="icons/clock_deep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250" y="33064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55080" y="4114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&amp; Deadlines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9006840" y="274320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8" name="Shape 13"/>
          <p:cNvSpPr/>
          <p:nvPr/>
        </p:nvSpPr>
        <p:spPr>
          <a:xfrm>
            <a:off x="9852660" y="3108960"/>
            <a:ext cx="822960" cy="822960"/>
          </a:xfrm>
          <a:prstGeom prst="ellipse">
            <a:avLst/>
          </a:prstGeom>
          <a:solidFill>
            <a:srgbClr val="F2F7F8"/>
          </a:solidFill>
          <a:ln/>
        </p:spPr>
      </p:sp>
      <p:pic>
        <p:nvPicPr>
          <p:cNvPr id="19" name="Image 3" descr="icons/rocket_deep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170" y="3306470"/>
            <a:ext cx="427939" cy="42793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0" y="4114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Freedom &amp; Growth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640080" y="5349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for the option that matches your first thought!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Journey So Far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3931920"/>
            <a:ext cx="978408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3543300"/>
            <a:ext cx="777240" cy="77724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6" name="Image 0" descr="icons/grad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638" y="372983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1995–2009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Here, This School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-91440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Non-Medical stream. Same classrooms, same board-exam nerves.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61460" y="3543300"/>
            <a:ext cx="777240" cy="77724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1" name="Image 1" descr="icons/laptop_m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998" y="372983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424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2009–2013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26136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B.Tech, Computer Science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169920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Punjab Technical University — discovered a love for design along the way.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322820" y="3543300"/>
            <a:ext cx="777240" cy="77724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6" name="Image 2" descr="icons/teacher_m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358" y="372983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0560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2013–2020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2272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Career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431280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to Product Designer — learning across companies.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0584180" y="3543300"/>
            <a:ext cx="777240" cy="77724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1" name="Image 3" descr="icons/briefcase_m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0718" y="372983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96696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2020–Present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78408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13+ Years, HCLSoftware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9692640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Deputy Manager, UI/UX Design at HCLSoftware.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SHIFT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 Life vs. Professional Life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E9F3F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LIFE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69164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21295C"/>
          </a:solidFill>
          <a:ln/>
        </p:spPr>
      </p:sp>
      <p:sp>
        <p:nvSpPr>
          <p:cNvPr id="7" name="Text 5"/>
          <p:cNvSpPr/>
          <p:nvPr/>
        </p:nvSpPr>
        <p:spPr>
          <a:xfrm>
            <a:off x="6263640" y="16916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LIFE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10835640" cy="777240"/>
          </a:xfrm>
          <a:prstGeom prst="rect">
            <a:avLst/>
          </a:prstGeom>
          <a:solidFill>
            <a:srgbClr val="F2F7F8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timetable tells you what to 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3774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priorities — and manage your own time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315468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Exams test what you've memorised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1546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reviews judge what you deliver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10835640" cy="777240"/>
          </a:xfrm>
          <a:prstGeom prst="rect">
            <a:avLst/>
          </a:prstGeom>
          <a:solidFill>
            <a:srgbClr val="F2F7F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31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guide you step-by-step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39319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expected to solve problems independently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47091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 stays mostly the same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47091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Teams, managers &amp; projects keep changing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486400"/>
            <a:ext cx="10835640" cy="777240"/>
          </a:xfrm>
          <a:prstGeom prst="rect">
            <a:avLst/>
          </a:prstGeom>
          <a:solidFill>
            <a:srgbClr val="F2F7F8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48640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Mistakes are corrected with red ink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54864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Mistakes can affect clients, teams &amp; deadlines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1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3200400" cy="5120640"/>
          </a:xfrm>
          <a:prstGeom prst="roundRect">
            <a:avLst>
              <a:gd name="adj" fmla="val 3429"/>
            </a:avLst>
          </a:prstGeom>
          <a:solidFill>
            <a:srgbClr val="21295C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874520"/>
            <a:ext cx="1737360" cy="17373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icons/brai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8566" y="2291486"/>
            <a:ext cx="903427" cy="903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7490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51376" y="120700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8" name="Image 1" descr="icons/targe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48" y="1299180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09160" y="11430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degree gets you the job — it doesn't keep you good at it.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151376" y="207568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1" name="Image 2" descr="icons/target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548" y="2167860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9160" y="20116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software &amp; trends change every 1–2 years in most careers.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4151376" y="294436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4" name="Image 3" descr="icons/target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3548" y="3036540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709160" y="28803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my field, new design tools and AI features appear almost every quarter.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4151376" y="381304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7" name="Image 4" descr="icons/target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548" y="3905220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709160" y="37490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stop learning after college fall behind fastest.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4069080" y="4709160"/>
            <a:ext cx="7315200" cy="1051560"/>
          </a:xfrm>
          <a:prstGeom prst="roundRect">
            <a:avLst>
              <a:gd name="adj" fmla="val 8696"/>
            </a:avLst>
          </a:prstGeom>
          <a:solidFill>
            <a:srgbClr val="F2A93B"/>
          </a:solidFill>
          <a:ln/>
        </p:spPr>
      </p:sp>
      <p:sp>
        <p:nvSpPr>
          <p:cNvPr id="20" name="Text 13"/>
          <p:cNvSpPr/>
          <p:nvPr/>
        </p:nvSpPr>
        <p:spPr>
          <a:xfrm>
            <a:off x="4297680" y="470916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💭  Think about it:  </a:t>
            </a:r>
            <a:pPr indent="0" marL="0">
              <a:buNone/>
            </a:pPr>
            <a:r>
              <a:rPr lang="en-US" sz="13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one new skill (even outside your syllabus) you could start learning this year?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2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3200400" cy="5120640"/>
          </a:xfrm>
          <a:prstGeom prst="roundRect">
            <a:avLst>
              <a:gd name="adj" fmla="val 3429"/>
            </a:avLst>
          </a:prstGeom>
          <a:solidFill>
            <a:srgbClr val="21295C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874520"/>
            <a:ext cx="1737360" cy="17373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icons/clo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8566" y="2291486"/>
            <a:ext cx="903427" cy="903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7490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Deadlines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Pressure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51376" y="120700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8" name="Image 1" descr="icons/targe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48" y="1299180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09160" y="11430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term exam date, deadlines can shift suddenly — clients, managers &amp; markets don't wait.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151376" y="207568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1" name="Image 2" descr="icons/target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548" y="2167860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9160" y="20116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projects often land on your desk at the same time.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4151376" y="294436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4" name="Image 3" descr="icons/target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3548" y="3036540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709160" y="28803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'I need one more day' has real consequences on a live project.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4151376" y="381304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7" name="Image 4" descr="icons/target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548" y="3905220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709160" y="37490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prioritize is more valuable than working longer hours.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4069080" y="4709160"/>
            <a:ext cx="7315200" cy="1051560"/>
          </a:xfrm>
          <a:prstGeom prst="roundRect">
            <a:avLst>
              <a:gd name="adj" fmla="val 8696"/>
            </a:avLst>
          </a:prstGeom>
          <a:solidFill>
            <a:srgbClr val="F2A93B"/>
          </a:solidFill>
          <a:ln/>
        </p:spPr>
      </p:sp>
      <p:sp>
        <p:nvSpPr>
          <p:cNvPr id="20" name="Text 13"/>
          <p:cNvSpPr/>
          <p:nvPr/>
        </p:nvSpPr>
        <p:spPr>
          <a:xfrm>
            <a:off x="4297680" y="470916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💭  Think about it:  </a:t>
            </a:r>
            <a:pPr indent="0" marL="0">
              <a:buNone/>
            </a:pPr>
            <a:r>
              <a:rPr lang="en-US" sz="13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currently decide what to finish first when you have too much homework at once?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3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3200400" cy="5120640"/>
          </a:xfrm>
          <a:prstGeom prst="roundRect">
            <a:avLst>
              <a:gd name="adj" fmla="val 3429"/>
            </a:avLst>
          </a:prstGeom>
          <a:solidFill>
            <a:srgbClr val="21295C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874520"/>
            <a:ext cx="1737360" cy="17373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icons/commen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8566" y="2291486"/>
            <a:ext cx="903427" cy="903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7490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Teamwork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51376" y="120700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8" name="Image 1" descr="icons/targe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48" y="1299180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09160" y="11430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'right' matters less than being understood by your team.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151376" y="207568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1" name="Image 2" descr="icons/target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548" y="2167860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9160" y="20116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work with people from different cities, cultures &amp; even countries.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4151376" y="294436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4" name="Image 3" descr="icons/target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3548" y="3036540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709160" y="28803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workplace conflicts come from unclear communication, not bad intentions.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4151376" y="381304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7" name="Image 4" descr="icons/target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548" y="3905220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709160" y="37490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and receiving feedback gracefully is a daily skill, not a one-time event.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4069080" y="4709160"/>
            <a:ext cx="7315200" cy="1051560"/>
          </a:xfrm>
          <a:prstGeom prst="roundRect">
            <a:avLst>
              <a:gd name="adj" fmla="val 8696"/>
            </a:avLst>
          </a:prstGeom>
          <a:solidFill>
            <a:srgbClr val="F2A93B"/>
          </a:solidFill>
          <a:ln/>
        </p:spPr>
      </p:sp>
      <p:sp>
        <p:nvSpPr>
          <p:cNvPr id="20" name="Text 13"/>
          <p:cNvSpPr/>
          <p:nvPr/>
        </p:nvSpPr>
        <p:spPr>
          <a:xfrm>
            <a:off x="4297680" y="470916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💭  Think about it:  </a:t>
            </a:r>
            <a:pPr indent="0" marL="0">
              <a:buNone/>
            </a:pPr>
            <a:r>
              <a:rPr lang="en-US" sz="13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group project in school that went wrong. Was it a skill problem — or a communication problem?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4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3200400" cy="5120640"/>
          </a:xfrm>
          <a:prstGeom prst="roundRect">
            <a:avLst>
              <a:gd name="adj" fmla="val 3429"/>
            </a:avLst>
          </a:prstGeom>
          <a:solidFill>
            <a:srgbClr val="21295C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874520"/>
            <a:ext cx="1737360" cy="17373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icons/red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8566" y="2291486"/>
            <a:ext cx="903427" cy="903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7490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Failure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Rejection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51376" y="120700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8" name="Image 1" descr="icons/targe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48" y="1299180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09160" y="11430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professional has been rejected — in interviews, promotions, or ideas.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151376" y="207568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1" name="Image 2" descr="icons/target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548" y="2167860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9160" y="20116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in the workplace is usually a redo, not a permanent record.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4151376" y="294436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4" name="Image 3" descr="icons/target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3548" y="3036540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709160" y="28803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people who succeed and people who don't is often just: who kept going.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4151376" y="381304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7" name="Image 4" descr="icons/target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548" y="3905220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709160" y="37490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is a skill you can practice — starting with school results.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4069080" y="4709160"/>
            <a:ext cx="7315200" cy="1051560"/>
          </a:xfrm>
          <a:prstGeom prst="roundRect">
            <a:avLst>
              <a:gd name="adj" fmla="val 8696"/>
            </a:avLst>
          </a:prstGeom>
          <a:solidFill>
            <a:srgbClr val="F2A93B"/>
          </a:solidFill>
          <a:ln/>
        </p:spPr>
      </p:sp>
      <p:sp>
        <p:nvSpPr>
          <p:cNvPr id="20" name="Text 13"/>
          <p:cNvSpPr/>
          <p:nvPr/>
        </p:nvSpPr>
        <p:spPr>
          <a:xfrm>
            <a:off x="4297680" y="470916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💭  Think about it:  </a:t>
            </a:r>
            <a:pPr indent="0" marL="0">
              <a:buNone/>
            </a:pPr>
            <a:r>
              <a:rPr lang="en-US" sz="13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time you didn't do well in a test or competition. What did you do right after?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5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3200400" cy="5120640"/>
          </a:xfrm>
          <a:prstGeom prst="roundRect">
            <a:avLst>
              <a:gd name="adj" fmla="val 3429"/>
            </a:avLst>
          </a:prstGeom>
          <a:solidFill>
            <a:srgbClr val="21295C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874520"/>
            <a:ext cx="1737360" cy="17373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8566" y="2291486"/>
            <a:ext cx="903427" cy="903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7490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Work-Life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51376" y="120700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8" name="Image 1" descr="icons/targe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48" y="1299180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09160" y="11430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can quietly expand to fill all your time if you let it.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151376" y="207568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1" name="Image 2" descr="icons/target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548" y="2167860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9160" y="20116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 is real — and it affects even high performers.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4151376" y="294436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4" name="Image 3" descr="icons/target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3548" y="3036540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709160" y="28803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 habits (sleep, exercise, hobbies) protect long-term performance.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4151376" y="381304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7" name="Image 4" descr="icons/target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548" y="3905220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709160" y="37490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you set early become the habits you keep for life.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4069080" y="4709160"/>
            <a:ext cx="7315200" cy="1051560"/>
          </a:xfrm>
          <a:prstGeom prst="roundRect">
            <a:avLst>
              <a:gd name="adj" fmla="val 8696"/>
            </a:avLst>
          </a:prstGeom>
          <a:solidFill>
            <a:srgbClr val="F2A93B"/>
          </a:solidFill>
          <a:ln/>
        </p:spPr>
      </p:sp>
      <p:sp>
        <p:nvSpPr>
          <p:cNvPr id="20" name="Text 13"/>
          <p:cNvSpPr/>
          <p:nvPr/>
        </p:nvSpPr>
        <p:spPr>
          <a:xfrm>
            <a:off x="4297680" y="470916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💭  Think about it:  </a:t>
            </a:r>
            <a:pPr indent="0" marL="0">
              <a:buNone/>
            </a:pPr>
            <a:r>
              <a:rPr lang="en-US" sz="13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one activity (sport, art, music) you enjoy today that you'd want to protect time for, even with a busy career?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6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3200400" cy="5120640"/>
          </a:xfrm>
          <a:prstGeom prst="roundRect">
            <a:avLst>
              <a:gd name="adj" fmla="val 3429"/>
            </a:avLst>
          </a:prstGeom>
          <a:solidFill>
            <a:srgbClr val="21295C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874520"/>
            <a:ext cx="1737360" cy="17373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icons/sync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8566" y="2291486"/>
            <a:ext cx="903427" cy="903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7490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Adapting 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&amp; Technology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51376" y="120700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8" name="Image 1" descr="icons/targe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48" y="1299180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09160" y="11430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and skills in demand today may look different in 5 years.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151376" y="207568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1" name="Image 2" descr="icons/target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548" y="2167860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9160" y="20116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already changing how many jobs — including mine — are done.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4151376" y="294436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4" name="Image 3" descr="icons/target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3548" y="3036540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709160" y="28803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stay curious and flexible adapt faster than those who resist change.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4151376" y="3813048"/>
            <a:ext cx="384048" cy="384048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7" name="Image 4" descr="icons/target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548" y="3905220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709160" y="37490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biggest asset isn't one skill — it's the ability to learn the next one.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4069080" y="4709160"/>
            <a:ext cx="7315200" cy="1051560"/>
          </a:xfrm>
          <a:prstGeom prst="roundRect">
            <a:avLst>
              <a:gd name="adj" fmla="val 8696"/>
            </a:avLst>
          </a:prstGeom>
          <a:solidFill>
            <a:srgbClr val="F2A93B"/>
          </a:solidFill>
          <a:ln/>
        </p:spPr>
      </p:sp>
      <p:sp>
        <p:nvSpPr>
          <p:cNvPr id="20" name="Text 13"/>
          <p:cNvSpPr/>
          <p:nvPr/>
        </p:nvSpPr>
        <p:spPr>
          <a:xfrm>
            <a:off x="4297680" y="470916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💭  Think about it:  </a:t>
            </a:r>
            <a:pPr indent="0" marL="0">
              <a:buNone/>
            </a:pPr>
            <a:r>
              <a:rPr lang="en-US" sz="13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new technology could do part of your dream job automatically, what human skill would still matter?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065A82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DO THIS TOGETHER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– Pair – Share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943100" y="2468880"/>
            <a:ext cx="822960" cy="82296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7" name="Text 5"/>
          <p:cNvSpPr/>
          <p:nvPr/>
        </p:nvSpPr>
        <p:spPr>
          <a:xfrm>
            <a:off x="194310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B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(1 min)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9319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challenge from today that worries you the most.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21031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692140" y="2468880"/>
            <a:ext cx="822960" cy="82296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69214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B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17720" y="35204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 (2 min)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39319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to the person next to you and discuss why it worries you.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21031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441180" y="2468880"/>
            <a:ext cx="822960" cy="82296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944118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B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66760" y="35204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(2 min)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39319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pairs will share with the whole class.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011680"/>
            <a:ext cx="5029200" cy="5029200"/>
          </a:xfrm>
          <a:prstGeom prst="ellipse">
            <a:avLst/>
          </a:prstGeom>
          <a:solidFill>
            <a:srgbClr val="065A82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STORY FROM MY CAREER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Time I Almost Gave Up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88136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2514600"/>
            <a:ext cx="914400" cy="914400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7" name="Image 0" descr="icons/bulbOutline_deep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734056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514600" y="2286000"/>
            <a:ext cx="8595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 my career, a design I had worked on for weeks was rejected by a client in front of my whole team. It felt personal, and for a few days I genuinely doubted if this field was right for me.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things was going back to the feedback, separating the criticism of the WORK from my worth as a person, and rebuilding the design with that input instead of my ego. That redesign became one of the strongest pieces in my portfolio.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2514600" y="4709160"/>
            <a:ext cx="8595360" cy="1051560"/>
          </a:xfrm>
          <a:prstGeom prst="roundRect">
            <a:avLst>
              <a:gd name="adj" fmla="val 6957"/>
            </a:avLst>
          </a:prstGeom>
          <a:solidFill>
            <a:srgbClr val="F2F7F8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0" y="470916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lesson:  </a:t>
            </a:r>
            <a:pPr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on your work is not a verdict on your worth. Learn to separate the two — early and often.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Tips to Start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3544" y="2066544"/>
            <a:ext cx="621792" cy="62179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6" name="Image 0" descr="icons/comments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774" y="2215774"/>
            <a:ext cx="323332" cy="3233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speaking up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96112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class, join debates, present confidently. Communication is trained, not born.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480560" y="1874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024" y="2066544"/>
            <a:ext cx="621792" cy="62179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1" name="Image 1" descr="icons/laptop_m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254" y="2215774"/>
            <a:ext cx="323332" cy="3233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36592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 real-world skill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736592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up basic coding, design, or writing tools — not for marks, just for curiosity.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21040" y="1874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04504" y="2066544"/>
            <a:ext cx="621792" cy="62179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6" name="Image 2" descr="icons/redo_m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3734" y="2215774"/>
            <a:ext cx="323332" cy="3233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77072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comfortable with 'not perfect'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577072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competitions, fail sometimes. It builds the resilience professional life demands.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0080" y="4160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3544" y="4352544"/>
            <a:ext cx="621792" cy="62179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1" name="Image 3" descr="icons/users_m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774" y="4501774"/>
            <a:ext cx="323332" cy="3233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6112" y="5029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 teams often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96112" y="5394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projects are practice for real colleagues. Learn to disagree respectfully.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480560" y="4160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64024" y="4352544"/>
            <a:ext cx="621792" cy="62179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6" name="Image 4" descr="icons/map_mi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3254" y="4501774"/>
            <a:ext cx="323332" cy="3233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36592" y="5029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your stream thoughtfully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736592" y="5394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based on genuine interest and strengths — talk to seniors, teachers &amp; professionals.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321040" y="41605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2F7F8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604504" y="4352544"/>
            <a:ext cx="621792" cy="62179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31" name="Image 5" descr="icons/seedling_mi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3734" y="4501774"/>
            <a:ext cx="323332" cy="3233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77072" y="5029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your habits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577072" y="5394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exercise, hobbies aren't a waste of time — they're your long-term fuel.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065A82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5029200" cy="5029200"/>
          </a:xfrm>
          <a:prstGeom prst="ellipse">
            <a:avLst/>
          </a:prstGeom>
          <a:solidFill>
            <a:srgbClr val="1C7293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FIRE RECAP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Quick! Name a Challenge...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7863840" cy="7132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196596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...you'd find hardest personally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7863840" cy="7132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83464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...you already handle well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7863840" cy="7132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70332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...that surprised you today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7863840" cy="7132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57200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...your parents talk about at home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5440680"/>
            <a:ext cx="7863840" cy="7132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544068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...you want to ask me more about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52560" y="1965960"/>
            <a:ext cx="2514600" cy="4114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9902952" y="2468880"/>
            <a:ext cx="822960" cy="822960"/>
          </a:xfrm>
          <a:prstGeom prst="ellipse">
            <a:avLst/>
          </a:prstGeom>
          <a:solidFill>
            <a:srgbClr val="E9F3F4"/>
          </a:solidFill>
          <a:ln/>
        </p:spPr>
      </p:sp>
      <p:pic>
        <p:nvPicPr>
          <p:cNvPr id="18" name="Image 0" descr="icons/mic_deep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0462" y="2666390"/>
            <a:ext cx="427939" cy="427939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235440" y="35204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30-second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 only!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281160" y="4434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on volunteers around the room — no wrong answers here.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480560"/>
            <a:ext cx="3291840" cy="329184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504688" y="1143000"/>
            <a:ext cx="1188720" cy="11887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icons/question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9981" y="14282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06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anything — about careers, tech, UI/UX, HCL, or life after school.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355848" y="438912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3355848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Dilraj Singh Chahal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3355848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Deputy Manager, UI/UX — HCLSoftware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355848" y="5257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dil.raj25@gmail.com  |  linkedin.com/in/dilrajsinghchahal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Professional Life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Challenges in Professional Life</dc:title>
  <dc:subject>PptxGenJS Presentation</dc:subject>
  <dc:creator>Dilraj Singh Chahal</dc:creator>
  <cp:lastModifiedBy>Dilraj Singh Chahal</cp:lastModifiedBy>
  <cp:revision>1</cp:revision>
  <dcterms:created xsi:type="dcterms:W3CDTF">2026-07-07T04:26:03Z</dcterms:created>
  <dcterms:modified xsi:type="dcterms:W3CDTF">2026-07-07T04:26:03Z</dcterms:modified>
</cp:coreProperties>
</file>